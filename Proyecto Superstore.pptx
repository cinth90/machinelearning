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/>
              <a:t>Proyecto Superstore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Cinthia Debenedetto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Ciencia de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datos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II</a:t>
            </a:r>
            <a:r>
              <a:rPr lang="en-AU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en-AU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coderhouse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892F2674-ADFC-83CD-F458-0F1670231381}"/>
              </a:ext>
            </a:extLst>
          </p:cNvPr>
          <p:cNvSpPr/>
          <p:nvPr/>
        </p:nvSpPr>
        <p:spPr>
          <a:xfrm>
            <a:off x="0" y="0"/>
            <a:ext cx="12192000" cy="1559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49F7F91-5DF9-B30F-1171-036E0930F955}"/>
              </a:ext>
            </a:extLst>
          </p:cNvPr>
          <p:cNvSpPr txBox="1"/>
          <p:nvPr/>
        </p:nvSpPr>
        <p:spPr>
          <a:xfrm>
            <a:off x="510988" y="627529"/>
            <a:ext cx="57038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Objetivos</a:t>
            </a:r>
            <a:r>
              <a:rPr lang="en-AU" sz="40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del Proyecto:</a:t>
            </a:r>
            <a:endParaRPr lang="en-AU" sz="8000" spc="-5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BA3B8EC-C451-BCF6-2E7F-B369A2A644B5}"/>
              </a:ext>
            </a:extLst>
          </p:cNvPr>
          <p:cNvSpPr txBox="1"/>
          <p:nvPr/>
        </p:nvSpPr>
        <p:spPr>
          <a:xfrm>
            <a:off x="996481" y="2187388"/>
            <a:ext cx="438857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 err="1">
                <a:latin typeface="+mj-lt"/>
              </a:rPr>
              <a:t>Detectar</a:t>
            </a:r>
            <a:r>
              <a:rPr lang="en-AU" sz="2800" dirty="0">
                <a:latin typeface="+mj-lt"/>
              </a:rPr>
              <a:t> </a:t>
            </a:r>
            <a:r>
              <a:rPr lang="en-AU" sz="2800" dirty="0" err="1">
                <a:latin typeface="+mj-lt"/>
              </a:rPr>
              <a:t>cual</a:t>
            </a:r>
            <a:r>
              <a:rPr lang="en-AU" sz="2800" dirty="0">
                <a:latin typeface="+mj-lt"/>
              </a:rPr>
              <a:t> es la causa de </a:t>
            </a:r>
            <a:r>
              <a:rPr lang="en-AU" sz="2800" dirty="0" err="1">
                <a:latin typeface="+mj-lt"/>
              </a:rPr>
              <a:t>ganancias</a:t>
            </a:r>
            <a:r>
              <a:rPr lang="en-AU" sz="2800" dirty="0">
                <a:latin typeface="+mj-lt"/>
              </a:rPr>
              <a:t> </a:t>
            </a:r>
            <a:r>
              <a:rPr lang="en-AU" sz="2800" dirty="0" err="1">
                <a:latin typeface="+mj-lt"/>
              </a:rPr>
              <a:t>negativas</a:t>
            </a:r>
            <a:endParaRPr lang="en-AU" sz="28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28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28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dirty="0" err="1">
                <a:latin typeface="+mj-lt"/>
              </a:rPr>
              <a:t>Optimizar</a:t>
            </a:r>
            <a:r>
              <a:rPr lang="en-AU" sz="2800" dirty="0">
                <a:latin typeface="+mj-lt"/>
              </a:rPr>
              <a:t> la </a:t>
            </a:r>
            <a:r>
              <a:rPr lang="en-AU" sz="2800" dirty="0" err="1">
                <a:latin typeface="+mj-lt"/>
              </a:rPr>
              <a:t>logistica</a:t>
            </a:r>
            <a:r>
              <a:rPr lang="en-AU" sz="2800" dirty="0">
                <a:latin typeface="+mj-lt"/>
              </a:rPr>
              <a:t> de </a:t>
            </a:r>
            <a:r>
              <a:rPr lang="en-AU" sz="2800" dirty="0" err="1">
                <a:latin typeface="+mj-lt"/>
              </a:rPr>
              <a:t>entrega</a:t>
            </a:r>
            <a:r>
              <a:rPr lang="en-AU" sz="2800" dirty="0">
                <a:latin typeface="+mj-lt"/>
              </a:rPr>
              <a:t> </a:t>
            </a:r>
            <a:r>
              <a:rPr lang="en-AU" sz="2800" dirty="0" err="1">
                <a:latin typeface="+mj-lt"/>
              </a:rPr>
              <a:t>evitando</a:t>
            </a:r>
            <a:r>
              <a:rPr lang="en-AU" sz="2800" dirty="0">
                <a:latin typeface="+mj-lt"/>
              </a:rPr>
              <a:t> </a:t>
            </a:r>
            <a:r>
              <a:rPr lang="en-AU" sz="2800" dirty="0" err="1">
                <a:latin typeface="+mj-lt"/>
              </a:rPr>
              <a:t>pedidos</a:t>
            </a:r>
            <a:r>
              <a:rPr lang="en-AU" sz="2800" dirty="0">
                <a:latin typeface="+mj-lt"/>
              </a:rPr>
              <a:t> </a:t>
            </a:r>
            <a:r>
              <a:rPr lang="en-AU" sz="2800" dirty="0" err="1">
                <a:latin typeface="+mj-lt"/>
              </a:rPr>
              <a:t>retrasados</a:t>
            </a:r>
            <a:endParaRPr lang="en-AU" sz="2800" dirty="0">
              <a:latin typeface="+mj-lt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4462B4-CAEE-7DFB-AE9B-6770F68B0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617" y="1962944"/>
            <a:ext cx="5029902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606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11082-86AC-6BAB-F404-B2848D46C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8F3F21CE-1902-87C8-1750-986C1343DB32}"/>
              </a:ext>
            </a:extLst>
          </p:cNvPr>
          <p:cNvSpPr/>
          <p:nvPr/>
        </p:nvSpPr>
        <p:spPr>
          <a:xfrm>
            <a:off x="0" y="1"/>
            <a:ext cx="12192000" cy="1486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0B62CF9-0BBD-7D1E-C772-9F51FCCB8C72}"/>
              </a:ext>
            </a:extLst>
          </p:cNvPr>
          <p:cNvSpPr txBox="1"/>
          <p:nvPr/>
        </p:nvSpPr>
        <p:spPr>
          <a:xfrm>
            <a:off x="510988" y="627529"/>
            <a:ext cx="11482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Estrategia</a:t>
            </a:r>
            <a:r>
              <a:rPr lang="en-AU" sz="36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para </a:t>
            </a:r>
            <a:r>
              <a:rPr lang="en-AU" sz="36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recuperar</a:t>
            </a:r>
            <a:r>
              <a:rPr lang="en-AU" sz="36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AU" sz="36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margenes</a:t>
            </a:r>
            <a:r>
              <a:rPr lang="en-AU" sz="36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AU" sz="36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puntualidad</a:t>
            </a:r>
            <a:r>
              <a:rPr lang="en-AU" sz="36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:</a:t>
            </a:r>
            <a:endParaRPr lang="en-AU" sz="7200" spc="-5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EC8C776-5C04-CA23-F192-1EA2C00449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80"/>
          <a:stretch>
            <a:fillRect/>
          </a:stretch>
        </p:blipFill>
        <p:spPr>
          <a:xfrm>
            <a:off x="1140592" y="1637026"/>
            <a:ext cx="2362530" cy="131463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DEAF1D8-B376-27CA-49F2-27A8D36DD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753" y="1798908"/>
            <a:ext cx="1819529" cy="119079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07C7D58-D855-D745-CCBC-1A1D997B8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3616" y="1586695"/>
            <a:ext cx="1905266" cy="131463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F94C72E-F444-BCE9-6EE7-829447DF08AA}"/>
              </a:ext>
            </a:extLst>
          </p:cNvPr>
          <p:cNvSpPr txBox="1"/>
          <p:nvPr/>
        </p:nvSpPr>
        <p:spPr>
          <a:xfrm>
            <a:off x="932327" y="3012997"/>
            <a:ext cx="27790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+mj-lt"/>
              </a:rPr>
              <a:t>Fuga </a:t>
            </a:r>
            <a:r>
              <a:rPr lang="en-AU" dirty="0" err="1">
                <a:latin typeface="+mj-lt"/>
              </a:rPr>
              <a:t>critica</a:t>
            </a:r>
            <a:r>
              <a:rPr lang="en-AU" dirty="0">
                <a:latin typeface="+mj-lt"/>
              </a:rPr>
              <a:t> de </a:t>
            </a:r>
            <a:r>
              <a:rPr lang="en-AU" dirty="0" err="1">
                <a:latin typeface="+mj-lt"/>
              </a:rPr>
              <a:t>ganancia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en</a:t>
            </a:r>
            <a:r>
              <a:rPr lang="en-AU" dirty="0">
                <a:latin typeface="+mj-lt"/>
              </a:rPr>
              <a:t> la region Central y </a:t>
            </a:r>
            <a:r>
              <a:rPr lang="en-AU" dirty="0" err="1">
                <a:latin typeface="+mj-lt"/>
              </a:rPr>
              <a:t>retrasos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sistematicos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en</a:t>
            </a:r>
            <a:r>
              <a:rPr lang="en-AU" dirty="0">
                <a:latin typeface="+mj-lt"/>
              </a:rPr>
              <a:t> envois “</a:t>
            </a:r>
            <a:r>
              <a:rPr lang="en-AU" dirty="0" err="1">
                <a:latin typeface="+mj-lt"/>
              </a:rPr>
              <a:t>Standar</a:t>
            </a:r>
            <a:r>
              <a:rPr lang="en-AU" dirty="0">
                <a:latin typeface="+mj-lt"/>
              </a:rPr>
              <a:t> Class”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38A0F51-DA79-67DA-0FBA-41A2EA84D5F3}"/>
              </a:ext>
            </a:extLst>
          </p:cNvPr>
          <p:cNvSpPr txBox="1"/>
          <p:nvPr/>
        </p:nvSpPr>
        <p:spPr>
          <a:xfrm>
            <a:off x="4406433" y="2951659"/>
            <a:ext cx="32541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+mj-lt"/>
              </a:rPr>
              <a:t>Los </a:t>
            </a:r>
            <a:r>
              <a:rPr lang="en-AU" dirty="0" err="1">
                <a:latin typeface="+mj-lt"/>
              </a:rPr>
              <a:t>descuentos</a:t>
            </a:r>
            <a:r>
              <a:rPr lang="en-AU" dirty="0">
                <a:latin typeface="+mj-lt"/>
              </a:rPr>
              <a:t> &gt;30% </a:t>
            </a:r>
            <a:r>
              <a:rPr lang="en-AU" dirty="0" err="1">
                <a:latin typeface="+mj-lt"/>
              </a:rPr>
              <a:t>destruyen</a:t>
            </a:r>
            <a:r>
              <a:rPr lang="en-AU" dirty="0">
                <a:latin typeface="+mj-lt"/>
              </a:rPr>
              <a:t> la </a:t>
            </a:r>
            <a:r>
              <a:rPr lang="en-AU" dirty="0" err="1">
                <a:latin typeface="+mj-lt"/>
              </a:rPr>
              <a:t>rentabilidad</a:t>
            </a:r>
            <a:r>
              <a:rPr lang="en-AU" dirty="0">
                <a:latin typeface="+mj-lt"/>
              </a:rPr>
              <a:t> (</a:t>
            </a:r>
            <a:r>
              <a:rPr lang="en-AU" dirty="0" err="1">
                <a:latin typeface="+mj-lt"/>
              </a:rPr>
              <a:t>correlacion</a:t>
            </a:r>
            <a:r>
              <a:rPr lang="en-AU" dirty="0">
                <a:latin typeface="+mj-lt"/>
              </a:rPr>
              <a:t> -0.48). Los </a:t>
            </a:r>
            <a:r>
              <a:rPr lang="en-AU" dirty="0" err="1">
                <a:latin typeface="+mj-lt"/>
              </a:rPr>
              <a:t>retrasos</a:t>
            </a:r>
            <a:r>
              <a:rPr lang="en-AU" dirty="0">
                <a:latin typeface="+mj-lt"/>
              </a:rPr>
              <a:t> no son </a:t>
            </a:r>
            <a:r>
              <a:rPr lang="en-AU" dirty="0" err="1">
                <a:latin typeface="+mj-lt"/>
              </a:rPr>
              <a:t>aleatorios</a:t>
            </a:r>
            <a:r>
              <a:rPr lang="en-AU" dirty="0">
                <a:latin typeface="+mj-lt"/>
              </a:rPr>
              <a:t>; son </a:t>
            </a:r>
            <a:r>
              <a:rPr lang="en-AU" dirty="0" err="1">
                <a:latin typeface="+mj-lt"/>
              </a:rPr>
              <a:t>previsibles</a:t>
            </a:r>
            <a:endParaRPr lang="en-AU" dirty="0">
              <a:latin typeface="+mj-lt"/>
            </a:endParaRPr>
          </a:p>
          <a:p>
            <a:endParaRPr lang="en-AU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2C5FECE-CC70-0263-E47D-A1E73828326E}"/>
              </a:ext>
            </a:extLst>
          </p:cNvPr>
          <p:cNvSpPr txBox="1"/>
          <p:nvPr/>
        </p:nvSpPr>
        <p:spPr>
          <a:xfrm>
            <a:off x="8605913" y="2928068"/>
            <a:ext cx="25759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>
                <a:latin typeface="+mj-lt"/>
              </a:rPr>
              <a:t>Limitar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descuentos</a:t>
            </a:r>
            <a:r>
              <a:rPr lang="en-AU" dirty="0">
                <a:latin typeface="+mj-lt"/>
              </a:rPr>
              <a:t> al 20% e </a:t>
            </a:r>
            <a:r>
              <a:rPr lang="en-AU" dirty="0" err="1">
                <a:latin typeface="+mj-lt"/>
              </a:rPr>
              <a:t>implementar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alertas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predictivas</a:t>
            </a:r>
            <a:r>
              <a:rPr lang="en-AU" dirty="0">
                <a:latin typeface="+mj-lt"/>
              </a:rPr>
              <a:t> para envois de alto </a:t>
            </a:r>
            <a:r>
              <a:rPr lang="en-AU" dirty="0" err="1">
                <a:latin typeface="+mj-lt"/>
              </a:rPr>
              <a:t>riesgo</a:t>
            </a:r>
            <a:r>
              <a:rPr lang="en-AU" dirty="0">
                <a:latin typeface="+mj-lt"/>
              </a:rPr>
              <a:t>.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62DC8B0F-CA6B-7995-4AC7-3B6FDCDB4949}"/>
              </a:ext>
            </a:extLst>
          </p:cNvPr>
          <p:cNvCxnSpPr/>
          <p:nvPr/>
        </p:nvCxnSpPr>
        <p:spPr>
          <a:xfrm>
            <a:off x="3774141" y="1849239"/>
            <a:ext cx="62753" cy="3699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1E50033A-9EAA-3D1F-5540-3D4E5DCFAF70}"/>
              </a:ext>
            </a:extLst>
          </p:cNvPr>
          <p:cNvCxnSpPr/>
          <p:nvPr/>
        </p:nvCxnSpPr>
        <p:spPr>
          <a:xfrm>
            <a:off x="8200331" y="1849239"/>
            <a:ext cx="62753" cy="3699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n 20">
            <a:extLst>
              <a:ext uri="{FF2B5EF4-FFF2-40B4-BE49-F238E27FC236}">
                <a16:creationId xmlns:a16="http://schemas.microsoft.com/office/drawing/2014/main" id="{D70EAA29-76A0-F43B-F387-A4534BEBFF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34" y="4690796"/>
            <a:ext cx="2781688" cy="962159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121227F8-2E6B-900E-6766-FCE60C205E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7863" y="4864390"/>
            <a:ext cx="2667372" cy="1181265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20D7E817-6A16-D4C3-CE98-19835B9121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2857" y="4428252"/>
            <a:ext cx="2343477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66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85F84-6CC6-783F-A591-DEDB9A1F2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2740D9BE-806C-744C-42E7-D88DBEEFBBBF}"/>
              </a:ext>
            </a:extLst>
          </p:cNvPr>
          <p:cNvSpPr/>
          <p:nvPr/>
        </p:nvSpPr>
        <p:spPr>
          <a:xfrm>
            <a:off x="0" y="1"/>
            <a:ext cx="12192000" cy="1486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2B1EA2F-0336-4538-8E6B-EF84E339EE2D}"/>
              </a:ext>
            </a:extLst>
          </p:cNvPr>
          <p:cNvSpPr txBox="1"/>
          <p:nvPr/>
        </p:nvSpPr>
        <p:spPr>
          <a:xfrm>
            <a:off x="510988" y="627529"/>
            <a:ext cx="11327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Panorama de </a:t>
            </a:r>
            <a:r>
              <a:rPr lang="en-AU" sz="36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los</a:t>
            </a:r>
            <a:r>
              <a:rPr lang="en-AU" sz="36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AU" sz="36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datos</a:t>
            </a:r>
            <a:r>
              <a:rPr lang="en-AU" sz="36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AU" sz="36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Alcance</a:t>
            </a:r>
            <a:r>
              <a:rPr lang="en-AU" sz="36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y </a:t>
            </a:r>
            <a:r>
              <a:rPr lang="en-AU" sz="36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enrequecimiento</a:t>
            </a:r>
            <a:endParaRPr lang="en-AU" sz="7200" spc="-5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CDBBD93-9DFE-FA7B-8D6B-CF8CAFC2D3A2}"/>
              </a:ext>
            </a:extLst>
          </p:cNvPr>
          <p:cNvSpPr txBox="1"/>
          <p:nvPr/>
        </p:nvSpPr>
        <p:spPr>
          <a:xfrm>
            <a:off x="510988" y="1578116"/>
            <a:ext cx="558501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latin typeface="+mj-lt"/>
              </a:rPr>
              <a:t>9.994 </a:t>
            </a:r>
            <a:r>
              <a:rPr lang="en-AU" dirty="0" err="1">
                <a:latin typeface="+mj-lt"/>
              </a:rPr>
              <a:t>registros</a:t>
            </a:r>
            <a:r>
              <a:rPr lang="en-AU" dirty="0">
                <a:latin typeface="+mj-lt"/>
              </a:rPr>
              <a:t> (2016-2017)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latin typeface="+mj-lt"/>
              </a:rPr>
              <a:t>Geografia: 4 Regiones (North, South, West, East)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err="1">
                <a:latin typeface="+mj-lt"/>
              </a:rPr>
              <a:t>Segmentos</a:t>
            </a:r>
            <a:r>
              <a:rPr lang="en-AU" dirty="0">
                <a:latin typeface="+mj-lt"/>
              </a:rPr>
              <a:t>: Consumer, Corporate,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err="1">
                <a:latin typeface="+mj-lt"/>
              </a:rPr>
              <a:t>Categorias</a:t>
            </a:r>
            <a:r>
              <a:rPr lang="en-AU" dirty="0">
                <a:latin typeface="+mj-lt"/>
              </a:rPr>
              <a:t> de </a:t>
            </a:r>
            <a:r>
              <a:rPr lang="en-AU" dirty="0" err="1">
                <a:latin typeface="+mj-lt"/>
              </a:rPr>
              <a:t>productos</a:t>
            </a:r>
            <a:r>
              <a:rPr lang="en-AU" dirty="0">
                <a:latin typeface="+mj-lt"/>
              </a:rPr>
              <a:t>: Furniture, Tech, Office Supplies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Creacion</a:t>
            </a:r>
            <a:r>
              <a:rPr lang="en-AU" dirty="0">
                <a:latin typeface="+mj-lt"/>
              </a:rPr>
              <a:t> de variable: ‘</a:t>
            </a:r>
            <a:r>
              <a:rPr lang="en-AU" dirty="0" err="1">
                <a:latin typeface="+mj-lt"/>
              </a:rPr>
              <a:t>demora_envio</a:t>
            </a:r>
            <a:r>
              <a:rPr lang="en-AU" dirty="0">
                <a:latin typeface="+mj-lt"/>
              </a:rPr>
              <a:t>’ y ‘</a:t>
            </a:r>
            <a:r>
              <a:rPr lang="en-AU" dirty="0" err="1">
                <a:latin typeface="+mj-lt"/>
              </a:rPr>
              <a:t>es_feriado</a:t>
            </a:r>
            <a:r>
              <a:rPr lang="en-AU" dirty="0">
                <a:latin typeface="+mj-lt"/>
              </a:rPr>
              <a:t>’ </a:t>
            </a:r>
            <a:r>
              <a:rPr lang="en-AU" dirty="0" err="1">
                <a:latin typeface="+mj-lt"/>
              </a:rPr>
              <a:t>mediante</a:t>
            </a:r>
            <a:r>
              <a:rPr lang="en-AU" dirty="0">
                <a:latin typeface="+mj-lt"/>
              </a:rPr>
              <a:t>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latin typeface="+mj-lt"/>
              </a:rPr>
              <a:t>Para que </a:t>
            </a:r>
            <a:r>
              <a:rPr lang="en-AU" dirty="0" err="1">
                <a:latin typeface="+mj-lt"/>
              </a:rPr>
              <a:t>el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modelo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aprenda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comportamientos</a:t>
            </a:r>
            <a:r>
              <a:rPr lang="en-AU" dirty="0">
                <a:latin typeface="+mj-lt"/>
              </a:rPr>
              <a:t> y no </a:t>
            </a:r>
            <a:r>
              <a:rPr lang="en-AU" dirty="0" err="1">
                <a:latin typeface="+mj-lt"/>
              </a:rPr>
              <a:t>memorice</a:t>
            </a:r>
            <a:r>
              <a:rPr lang="en-AU" dirty="0">
                <a:latin typeface="+mj-lt"/>
              </a:rPr>
              <a:t> se </a:t>
            </a:r>
            <a:r>
              <a:rPr lang="en-AU" dirty="0" err="1">
                <a:latin typeface="+mj-lt"/>
              </a:rPr>
              <a:t>eliminaron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identificadores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unicos</a:t>
            </a:r>
            <a:r>
              <a:rPr lang="en-AU" dirty="0"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latin typeface="+mj-lt"/>
              </a:rPr>
              <a:t>Se </a:t>
            </a:r>
            <a:r>
              <a:rPr lang="en-AU" dirty="0" err="1">
                <a:latin typeface="+mj-lt"/>
              </a:rPr>
              <a:t>agruparon</a:t>
            </a:r>
            <a:r>
              <a:rPr lang="en-AU" dirty="0">
                <a:latin typeface="+mj-lt"/>
              </a:rPr>
              <a:t> 521 </a:t>
            </a:r>
            <a:r>
              <a:rPr lang="en-AU" dirty="0" err="1">
                <a:latin typeface="+mj-lt"/>
              </a:rPr>
              <a:t>ciudades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en</a:t>
            </a:r>
            <a:r>
              <a:rPr lang="en-AU" dirty="0">
                <a:latin typeface="+mj-lt"/>
              </a:rPr>
              <a:t> un Top 10 para reducer </a:t>
            </a:r>
            <a:r>
              <a:rPr lang="en-AU" dirty="0" err="1">
                <a:latin typeface="+mj-lt"/>
              </a:rPr>
              <a:t>ruido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estadistico</a:t>
            </a:r>
            <a:r>
              <a:rPr lang="en-AU" dirty="0">
                <a:latin typeface="+mj-lt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0EF483-634C-BE74-092C-451F7CA69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4558" y="2258290"/>
            <a:ext cx="5646502" cy="277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94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B077C-DB7D-7939-FEBF-507C20716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A372325-D7E8-8A88-A190-60A5FCECBC27}"/>
              </a:ext>
            </a:extLst>
          </p:cNvPr>
          <p:cNvSpPr/>
          <p:nvPr/>
        </p:nvSpPr>
        <p:spPr>
          <a:xfrm>
            <a:off x="0" y="1"/>
            <a:ext cx="12192000" cy="1486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F429309-FA2A-E3F6-8D79-0F98A344EF6A}"/>
              </a:ext>
            </a:extLst>
          </p:cNvPr>
          <p:cNvSpPr txBox="1"/>
          <p:nvPr/>
        </p:nvSpPr>
        <p:spPr>
          <a:xfrm>
            <a:off x="510988" y="627529"/>
            <a:ext cx="8409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El </a:t>
            </a:r>
            <a:r>
              <a:rPr lang="en-AU" sz="40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problema</a:t>
            </a:r>
            <a:r>
              <a:rPr lang="en-AU" sz="40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de la Region Central: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AC8717-5637-92A7-CB8C-DE91E7D3F693}"/>
              </a:ext>
            </a:extLst>
          </p:cNvPr>
          <p:cNvSpPr txBox="1"/>
          <p:nvPr/>
        </p:nvSpPr>
        <p:spPr>
          <a:xfrm>
            <a:off x="363208" y="1825317"/>
            <a:ext cx="55850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latin typeface="+mj-lt"/>
              </a:rPr>
              <a:t>El </a:t>
            </a:r>
            <a:r>
              <a:rPr lang="en-AU" dirty="0" err="1">
                <a:latin typeface="+mj-lt"/>
              </a:rPr>
              <a:t>analisis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exploratorio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revela</a:t>
            </a:r>
            <a:r>
              <a:rPr lang="en-AU" dirty="0">
                <a:latin typeface="+mj-lt"/>
              </a:rPr>
              <a:t> que, </a:t>
            </a:r>
            <a:r>
              <a:rPr lang="en-AU" dirty="0" err="1">
                <a:latin typeface="+mj-lt"/>
              </a:rPr>
              <a:t>aunque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el</a:t>
            </a:r>
            <a:r>
              <a:rPr lang="en-AU" dirty="0">
                <a:latin typeface="+mj-lt"/>
              </a:rPr>
              <a:t> volume de </a:t>
            </a:r>
            <a:r>
              <a:rPr lang="en-AU" dirty="0" err="1">
                <a:latin typeface="+mj-lt"/>
              </a:rPr>
              <a:t>ventas</a:t>
            </a:r>
            <a:r>
              <a:rPr lang="en-AU" dirty="0">
                <a:latin typeface="+mj-lt"/>
              </a:rPr>
              <a:t> es </a:t>
            </a:r>
            <a:r>
              <a:rPr lang="en-AU" dirty="0" err="1">
                <a:latin typeface="+mj-lt"/>
              </a:rPr>
              <a:t>saludable</a:t>
            </a:r>
            <a:r>
              <a:rPr lang="en-AU" dirty="0">
                <a:latin typeface="+mj-lt"/>
              </a:rPr>
              <a:t>, la Region Central opera con </a:t>
            </a:r>
            <a:r>
              <a:rPr lang="en-AU" dirty="0" err="1">
                <a:latin typeface="+mj-lt"/>
              </a:rPr>
              <a:t>perdidas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significativas</a:t>
            </a:r>
            <a:r>
              <a:rPr lang="en-AU" dirty="0"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latin typeface="+mj-lt"/>
              </a:rPr>
              <a:t>Las </a:t>
            </a:r>
            <a:r>
              <a:rPr lang="en-AU" dirty="0" err="1">
                <a:latin typeface="+mj-lt"/>
              </a:rPr>
              <a:t>perdidas</a:t>
            </a:r>
            <a:r>
              <a:rPr lang="en-AU" dirty="0">
                <a:latin typeface="+mj-lt"/>
              </a:rPr>
              <a:t> no son </a:t>
            </a:r>
            <a:r>
              <a:rPr lang="en-AU" dirty="0" err="1">
                <a:latin typeface="+mj-lt"/>
              </a:rPr>
              <a:t>incidentes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aislados</a:t>
            </a:r>
            <a:r>
              <a:rPr lang="en-AU" dirty="0">
                <a:latin typeface="+mj-lt"/>
              </a:rPr>
              <a:t>; son un patron </a:t>
            </a:r>
            <a:r>
              <a:rPr lang="en-AU" dirty="0" err="1">
                <a:latin typeface="+mj-lt"/>
              </a:rPr>
              <a:t>estructural</a:t>
            </a:r>
            <a:endParaRPr lang="en-AU" dirty="0">
              <a:latin typeface="+mj-l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8580784-6012-7D21-27A2-8A025A1D2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97" y="3302645"/>
            <a:ext cx="4536544" cy="307673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24FA923-6C92-E778-D58F-A97E631E0049}"/>
              </a:ext>
            </a:extLst>
          </p:cNvPr>
          <p:cNvSpPr txBox="1"/>
          <p:nvPr/>
        </p:nvSpPr>
        <p:spPr>
          <a:xfrm>
            <a:off x="6255287" y="5123957"/>
            <a:ext cx="46159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latin typeface="+mj-lt"/>
              </a:rPr>
              <a:t>La </a:t>
            </a:r>
            <a:r>
              <a:rPr lang="en-AU" dirty="0" err="1">
                <a:latin typeface="+mj-lt"/>
              </a:rPr>
              <a:t>categoria</a:t>
            </a:r>
            <a:r>
              <a:rPr lang="en-AU" dirty="0">
                <a:latin typeface="+mj-lt"/>
              </a:rPr>
              <a:t> Furniture es la principal </a:t>
            </a:r>
            <a:r>
              <a:rPr lang="en-AU" dirty="0" err="1">
                <a:latin typeface="+mj-lt"/>
              </a:rPr>
              <a:t>detractora</a:t>
            </a:r>
            <a:r>
              <a:rPr lang="en-AU" dirty="0">
                <a:latin typeface="+mj-lt"/>
              </a:rPr>
              <a:t> de </a:t>
            </a:r>
            <a:r>
              <a:rPr lang="en-AU" dirty="0" err="1">
                <a:latin typeface="+mj-lt"/>
              </a:rPr>
              <a:t>valor</a:t>
            </a:r>
            <a:r>
              <a:rPr lang="en-AU" dirty="0">
                <a:latin typeface="+mj-lt"/>
              </a:rPr>
              <a:t> de </a:t>
            </a:r>
            <a:r>
              <a:rPr lang="en-AU" dirty="0" err="1">
                <a:latin typeface="+mj-lt"/>
              </a:rPr>
              <a:t>esta</a:t>
            </a:r>
            <a:r>
              <a:rPr lang="en-AU" dirty="0">
                <a:latin typeface="+mj-lt"/>
              </a:rPr>
              <a:t> zona</a:t>
            </a:r>
          </a:p>
          <a:p>
            <a:endParaRPr lang="en-AU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F8615EE-D40E-EAEE-9DCB-24E4976A3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834" y="1672039"/>
            <a:ext cx="4715655" cy="345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500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84342-6037-974A-E04B-6771C9CD5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59C7C76-ACC9-4198-70D4-30EB077D2A03}"/>
              </a:ext>
            </a:extLst>
          </p:cNvPr>
          <p:cNvSpPr/>
          <p:nvPr/>
        </p:nvSpPr>
        <p:spPr>
          <a:xfrm>
            <a:off x="0" y="1"/>
            <a:ext cx="12192000" cy="1486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A22B27-60D4-7A65-B66C-51A0BCB00560}"/>
              </a:ext>
            </a:extLst>
          </p:cNvPr>
          <p:cNvSpPr txBox="1"/>
          <p:nvPr/>
        </p:nvSpPr>
        <p:spPr>
          <a:xfrm>
            <a:off x="510988" y="627529"/>
            <a:ext cx="97610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La </a:t>
            </a:r>
            <a:r>
              <a:rPr lang="en-AU" sz="40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trampa</a:t>
            </a:r>
            <a:r>
              <a:rPr lang="en-AU" sz="40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AU" sz="40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los</a:t>
            </a:r>
            <a:r>
              <a:rPr lang="en-AU" sz="40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AU" sz="40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descuentos</a:t>
            </a:r>
            <a:r>
              <a:rPr lang="en-AU" sz="40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AU" sz="40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agresivos</a:t>
            </a:r>
            <a:r>
              <a:rPr lang="en-AU" sz="40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6D69965-AACF-0AC0-AAEB-974E0CDB99A5}"/>
              </a:ext>
            </a:extLst>
          </p:cNvPr>
          <p:cNvSpPr txBox="1"/>
          <p:nvPr/>
        </p:nvSpPr>
        <p:spPr>
          <a:xfrm>
            <a:off x="510988" y="1989099"/>
            <a:ext cx="37874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err="1">
                <a:latin typeface="+mj-lt"/>
              </a:rPr>
              <a:t>Existe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una</a:t>
            </a:r>
            <a:r>
              <a:rPr lang="en-AU" dirty="0">
                <a:latin typeface="+mj-lt"/>
              </a:rPr>
              <a:t> </a:t>
            </a:r>
            <a:r>
              <a:rPr lang="en-AU" b="1" dirty="0" err="1">
                <a:latin typeface="+mj-lt"/>
              </a:rPr>
              <a:t>correlacion</a:t>
            </a:r>
            <a:r>
              <a:rPr lang="en-AU" b="1" dirty="0">
                <a:latin typeface="+mj-lt"/>
              </a:rPr>
              <a:t> negative</a:t>
            </a:r>
            <a:r>
              <a:rPr lang="en-AU" dirty="0">
                <a:latin typeface="+mj-lt"/>
              </a:rPr>
              <a:t> de -0.48 entre </a:t>
            </a:r>
            <a:r>
              <a:rPr lang="en-AU" dirty="0" err="1">
                <a:latin typeface="+mj-lt"/>
              </a:rPr>
              <a:t>descuento</a:t>
            </a:r>
            <a:r>
              <a:rPr lang="en-AU" dirty="0">
                <a:latin typeface="+mj-lt"/>
              </a:rPr>
              <a:t> y </a:t>
            </a:r>
            <a:r>
              <a:rPr lang="en-AU" dirty="0" err="1">
                <a:latin typeface="+mj-lt"/>
              </a:rPr>
              <a:t>ganancia</a:t>
            </a:r>
            <a:r>
              <a:rPr lang="en-AU" dirty="0"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 err="1">
                <a:latin typeface="+mj-lt"/>
              </a:rPr>
              <a:t>Descuentos</a:t>
            </a:r>
            <a:r>
              <a:rPr lang="en-AU" dirty="0">
                <a:latin typeface="+mj-lt"/>
              </a:rPr>
              <a:t> &gt; 30% </a:t>
            </a:r>
            <a:r>
              <a:rPr lang="en-AU" dirty="0" err="1">
                <a:latin typeface="+mj-lt"/>
              </a:rPr>
              <a:t>en</a:t>
            </a:r>
            <a:r>
              <a:rPr lang="en-AU" dirty="0">
                <a:latin typeface="+mj-lt"/>
              </a:rPr>
              <a:t> Furniture y &gt;80% </a:t>
            </a:r>
            <a:r>
              <a:rPr lang="en-AU" dirty="0" err="1">
                <a:latin typeface="+mj-lt"/>
              </a:rPr>
              <a:t>en</a:t>
            </a:r>
            <a:r>
              <a:rPr lang="en-AU" dirty="0">
                <a:latin typeface="+mj-lt"/>
              </a:rPr>
              <a:t> Office Supplies </a:t>
            </a:r>
            <a:r>
              <a:rPr lang="en-AU" dirty="0" err="1">
                <a:latin typeface="+mj-lt"/>
              </a:rPr>
              <a:t>garantizan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margenes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negativos</a:t>
            </a:r>
            <a:r>
              <a:rPr lang="en-AU" dirty="0"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latin typeface="+mj-lt"/>
              </a:rPr>
              <a:t>Se </a:t>
            </a:r>
            <a:r>
              <a:rPr lang="en-AU" dirty="0" err="1">
                <a:latin typeface="+mj-lt"/>
              </a:rPr>
              <a:t>han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registrado</a:t>
            </a:r>
            <a:r>
              <a:rPr lang="en-AU" dirty="0">
                <a:latin typeface="+mj-lt"/>
              </a:rPr>
              <a:t> </a:t>
            </a:r>
            <a:r>
              <a:rPr lang="en-AU" b="1" dirty="0" err="1">
                <a:latin typeface="+mj-lt"/>
              </a:rPr>
              <a:t>perdidas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individuales</a:t>
            </a:r>
            <a:r>
              <a:rPr lang="en-AU" dirty="0">
                <a:latin typeface="+mj-lt"/>
              </a:rPr>
              <a:t> de hasta -$3500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DBBB0D-EEB1-A384-0409-8CE840015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588" y="1890487"/>
            <a:ext cx="5411463" cy="3735086"/>
          </a:xfrm>
          <a:prstGeom prst="rect">
            <a:avLst/>
          </a:prstGeom>
        </p:spPr>
      </p:pic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8B0FF92D-8A2B-B99F-ECE9-EEAAEDB7B67E}"/>
              </a:ext>
            </a:extLst>
          </p:cNvPr>
          <p:cNvSpPr/>
          <p:nvPr/>
        </p:nvSpPr>
        <p:spPr>
          <a:xfrm rot="20098593">
            <a:off x="7073153" y="5287911"/>
            <a:ext cx="1004047" cy="5558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1621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DABBD-1706-3ED8-2269-4D7D8782D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23A56B90-1FA5-B618-2011-20FC2AF54DB9}"/>
              </a:ext>
            </a:extLst>
          </p:cNvPr>
          <p:cNvSpPr/>
          <p:nvPr/>
        </p:nvSpPr>
        <p:spPr>
          <a:xfrm>
            <a:off x="0" y="1"/>
            <a:ext cx="12192000" cy="1486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BFF2279-FABC-852F-95EE-8B0627BB4DF1}"/>
              </a:ext>
            </a:extLst>
          </p:cNvPr>
          <p:cNvSpPr txBox="1"/>
          <p:nvPr/>
        </p:nvSpPr>
        <p:spPr>
          <a:xfrm>
            <a:off x="510988" y="627529"/>
            <a:ext cx="60500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Modelado</a:t>
            </a:r>
            <a:r>
              <a:rPr lang="en-AU" sz="40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AU" sz="40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ganancias</a:t>
            </a:r>
            <a:r>
              <a:rPr lang="en-AU" sz="40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67C3360-E23E-5E87-A9D1-1843BE63AC65}"/>
              </a:ext>
            </a:extLst>
          </p:cNvPr>
          <p:cNvSpPr txBox="1"/>
          <p:nvPr/>
        </p:nvSpPr>
        <p:spPr>
          <a:xfrm>
            <a:off x="510988" y="1989099"/>
            <a:ext cx="37874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 err="1">
                <a:latin typeface="+mj-lt"/>
              </a:rPr>
              <a:t>Modelo</a:t>
            </a:r>
            <a:r>
              <a:rPr lang="en-AU" dirty="0">
                <a:latin typeface="+mj-lt"/>
              </a:rPr>
              <a:t>: Random Forest Regressor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latin typeface="+mj-lt"/>
              </a:rPr>
              <a:t>Precision</a:t>
            </a:r>
            <a:r>
              <a:rPr lang="en-AU" dirty="0">
                <a:latin typeface="+mj-lt"/>
              </a:rPr>
              <a:t>: R^2 = 0.66. El </a:t>
            </a:r>
            <a:r>
              <a:rPr lang="en-AU" dirty="0" err="1">
                <a:latin typeface="+mj-lt"/>
              </a:rPr>
              <a:t>modelo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explica</a:t>
            </a:r>
            <a:r>
              <a:rPr lang="en-AU" dirty="0">
                <a:latin typeface="+mj-lt"/>
              </a:rPr>
              <a:t> la </a:t>
            </a:r>
            <a:r>
              <a:rPr lang="en-AU" dirty="0" err="1">
                <a:latin typeface="+mj-lt"/>
              </a:rPr>
              <a:t>mayoria</a:t>
            </a:r>
            <a:r>
              <a:rPr lang="en-AU" dirty="0">
                <a:latin typeface="+mj-lt"/>
              </a:rPr>
              <a:t> de la </a:t>
            </a:r>
            <a:r>
              <a:rPr lang="en-AU" dirty="0" err="1">
                <a:latin typeface="+mj-lt"/>
              </a:rPr>
              <a:t>variabilidad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financiera</a:t>
            </a:r>
            <a:r>
              <a:rPr lang="en-AU" dirty="0">
                <a:latin typeface="+mj-lt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 err="1">
                <a:latin typeface="+mj-lt"/>
              </a:rPr>
              <a:t>Validacion</a:t>
            </a:r>
            <a:r>
              <a:rPr lang="en-AU" dirty="0">
                <a:latin typeface="+mj-lt"/>
              </a:rPr>
              <a:t>: El </a:t>
            </a:r>
            <a:r>
              <a:rPr lang="en-AU" dirty="0" err="1">
                <a:latin typeface="+mj-lt"/>
              </a:rPr>
              <a:t>algoritmo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confirma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matematicamente</a:t>
            </a:r>
            <a:r>
              <a:rPr lang="en-AU" dirty="0">
                <a:latin typeface="+mj-lt"/>
              </a:rPr>
              <a:t> que Sales y Discount son </a:t>
            </a:r>
            <a:r>
              <a:rPr lang="en-AU" dirty="0" err="1">
                <a:latin typeface="+mj-lt"/>
              </a:rPr>
              <a:t>los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predictores</a:t>
            </a:r>
            <a:r>
              <a:rPr lang="en-AU" dirty="0">
                <a:latin typeface="+mj-lt"/>
              </a:rPr>
              <a:t> mas </a:t>
            </a:r>
            <a:r>
              <a:rPr lang="en-AU" dirty="0" err="1">
                <a:latin typeface="+mj-lt"/>
              </a:rPr>
              <a:t>pesados</a:t>
            </a:r>
            <a:r>
              <a:rPr lang="en-AU" dirty="0">
                <a:latin typeface="+mj-lt"/>
              </a:rPr>
              <a:t>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B799D4B-8BF5-508E-D07D-B1CFB1489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439" y="1755012"/>
            <a:ext cx="7109069" cy="385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40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4A855-A086-4EDA-263A-C10CBAC3B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F98F1CF-8D0E-2473-5DC4-146C4F6BB1BE}"/>
              </a:ext>
            </a:extLst>
          </p:cNvPr>
          <p:cNvSpPr/>
          <p:nvPr/>
        </p:nvSpPr>
        <p:spPr>
          <a:xfrm>
            <a:off x="0" y="1"/>
            <a:ext cx="12192000" cy="1486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0C43B74-AD7F-C4A0-6932-52B1367A4459}"/>
              </a:ext>
            </a:extLst>
          </p:cNvPr>
          <p:cNvSpPr txBox="1"/>
          <p:nvPr/>
        </p:nvSpPr>
        <p:spPr>
          <a:xfrm>
            <a:off x="510988" y="627529"/>
            <a:ext cx="80057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Deteccion</a:t>
            </a:r>
            <a:r>
              <a:rPr lang="en-AU" sz="40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AU" sz="40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proactiva</a:t>
            </a:r>
            <a:r>
              <a:rPr lang="en-AU" sz="40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AU" sz="40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retrasos</a:t>
            </a:r>
            <a:r>
              <a:rPr lang="en-AU" sz="40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36194CB-2374-036F-EEE9-2D45D8CCB292}"/>
              </a:ext>
            </a:extLst>
          </p:cNvPr>
          <p:cNvSpPr txBox="1"/>
          <p:nvPr/>
        </p:nvSpPr>
        <p:spPr>
          <a:xfrm>
            <a:off x="612588" y="2413337"/>
            <a:ext cx="40102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 err="1">
                <a:latin typeface="+mj-lt"/>
              </a:rPr>
              <a:t>Modelo</a:t>
            </a:r>
            <a:r>
              <a:rPr lang="en-AU" dirty="0">
                <a:latin typeface="+mj-lt"/>
              </a:rPr>
              <a:t>: Random Forest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latin typeface="+mj-lt"/>
              </a:rPr>
              <a:t>Recall: </a:t>
            </a:r>
            <a:r>
              <a:rPr lang="en-AU" dirty="0">
                <a:latin typeface="+mj-lt"/>
              </a:rPr>
              <a:t>44%. El Sistema es </a:t>
            </a:r>
            <a:r>
              <a:rPr lang="en-AU" dirty="0" err="1">
                <a:latin typeface="+mj-lt"/>
              </a:rPr>
              <a:t>capaz</a:t>
            </a:r>
            <a:r>
              <a:rPr lang="en-AU" dirty="0">
                <a:latin typeface="+mj-lt"/>
              </a:rPr>
              <a:t> de </a:t>
            </a:r>
            <a:r>
              <a:rPr lang="en-AU" dirty="0" err="1">
                <a:latin typeface="+mj-lt"/>
              </a:rPr>
              <a:t>rescatar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casi</a:t>
            </a:r>
            <a:r>
              <a:rPr lang="en-AU" dirty="0">
                <a:latin typeface="+mj-lt"/>
              </a:rPr>
              <a:t> la </a:t>
            </a:r>
            <a:r>
              <a:rPr lang="en-AU" dirty="0" err="1">
                <a:latin typeface="+mj-lt"/>
              </a:rPr>
              <a:t>mitad</a:t>
            </a:r>
            <a:r>
              <a:rPr lang="en-AU" dirty="0">
                <a:latin typeface="+mj-lt"/>
              </a:rPr>
              <a:t> de </a:t>
            </a:r>
            <a:r>
              <a:rPr lang="en-AU" dirty="0" err="1">
                <a:latin typeface="+mj-lt"/>
              </a:rPr>
              <a:t>los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pedidos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problematicos</a:t>
            </a:r>
            <a:r>
              <a:rPr lang="en-AU" dirty="0">
                <a:latin typeface="+mj-lt"/>
              </a:rPr>
              <a:t> antes de que </a:t>
            </a:r>
            <a:r>
              <a:rPr lang="en-AU" dirty="0" err="1">
                <a:latin typeface="+mj-lt"/>
              </a:rPr>
              <a:t>ocurran</a:t>
            </a:r>
            <a:r>
              <a:rPr lang="en-AU" dirty="0">
                <a:latin typeface="+mj-lt"/>
              </a:rPr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352635-25D7-5346-350E-9B5954916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034" y="1836554"/>
            <a:ext cx="5782482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782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C15B1-7996-0B8F-4410-BDF257548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7012802-CC5E-06E2-0278-8DB869AAFBB7}"/>
              </a:ext>
            </a:extLst>
          </p:cNvPr>
          <p:cNvSpPr/>
          <p:nvPr/>
        </p:nvSpPr>
        <p:spPr>
          <a:xfrm>
            <a:off x="0" y="1"/>
            <a:ext cx="12192000" cy="1486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3B975A1-1D51-5F9B-7908-43CAB245346F}"/>
              </a:ext>
            </a:extLst>
          </p:cNvPr>
          <p:cNvSpPr txBox="1"/>
          <p:nvPr/>
        </p:nvSpPr>
        <p:spPr>
          <a:xfrm>
            <a:off x="0" y="496002"/>
            <a:ext cx="11995592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3800" spc="-50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Estrategia</a:t>
            </a:r>
            <a:r>
              <a:rPr lang="en-AU" sz="38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commercial: </a:t>
            </a:r>
            <a:r>
              <a:rPr lang="en-AU" sz="38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Rentabilidad</a:t>
            </a:r>
            <a:r>
              <a:rPr lang="en-AU" sz="38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ante </a:t>
            </a:r>
            <a:r>
              <a:rPr lang="en-AU" sz="3800" spc="-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Volumen</a:t>
            </a:r>
            <a:endParaRPr lang="en-AU" sz="3800" spc="-5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44F2396-8670-D37C-3A3C-AAFC855CE66E}"/>
              </a:ext>
            </a:extLst>
          </p:cNvPr>
          <p:cNvSpPr txBox="1"/>
          <p:nvPr/>
        </p:nvSpPr>
        <p:spPr>
          <a:xfrm>
            <a:off x="1290918" y="3473042"/>
            <a:ext cx="37874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 err="1">
                <a:latin typeface="+mj-lt"/>
              </a:rPr>
              <a:t>Prohibir</a:t>
            </a:r>
            <a:r>
              <a:rPr lang="en-AU" b="1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descuentos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mayores</a:t>
            </a:r>
            <a:r>
              <a:rPr lang="en-AU" dirty="0">
                <a:latin typeface="+mj-lt"/>
              </a:rPr>
              <a:t> al 20% </a:t>
            </a:r>
            <a:r>
              <a:rPr lang="en-AU" dirty="0" err="1">
                <a:latin typeface="+mj-lt"/>
              </a:rPr>
              <a:t>en</a:t>
            </a:r>
            <a:r>
              <a:rPr lang="en-AU" dirty="0">
                <a:latin typeface="+mj-lt"/>
              </a:rPr>
              <a:t> la Region Central.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 err="1">
                <a:latin typeface="+mj-lt"/>
              </a:rPr>
              <a:t>Eliminar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descuentos</a:t>
            </a:r>
            <a:r>
              <a:rPr lang="en-AU" dirty="0">
                <a:latin typeface="+mj-lt"/>
              </a:rPr>
              <a:t> del 80% </a:t>
            </a:r>
            <a:r>
              <a:rPr lang="en-AU" dirty="0" err="1">
                <a:latin typeface="+mj-lt"/>
              </a:rPr>
              <a:t>en</a:t>
            </a:r>
            <a:r>
              <a:rPr lang="en-AU" dirty="0">
                <a:latin typeface="+mj-lt"/>
              </a:rPr>
              <a:t> office supplies.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1A92C89-8B81-376E-A050-2CEEDF1B2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41" y="1982074"/>
            <a:ext cx="9488224" cy="112410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F4A8B6A-5D41-4F3C-6BE4-371A9D4CEE89}"/>
              </a:ext>
            </a:extLst>
          </p:cNvPr>
          <p:cNvSpPr txBox="1"/>
          <p:nvPr/>
        </p:nvSpPr>
        <p:spPr>
          <a:xfrm>
            <a:off x="6409765" y="3334543"/>
            <a:ext cx="38548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 err="1">
                <a:latin typeface="+mj-lt"/>
              </a:rPr>
              <a:t>Enfocar</a:t>
            </a:r>
            <a:r>
              <a:rPr lang="en-AU" b="1" dirty="0">
                <a:latin typeface="+mj-lt"/>
              </a:rPr>
              <a:t> </a:t>
            </a:r>
            <a:r>
              <a:rPr lang="en-AU" b="1" dirty="0" err="1">
                <a:latin typeface="+mj-lt"/>
              </a:rPr>
              <a:t>esfuerzos</a:t>
            </a:r>
            <a:r>
              <a:rPr lang="en-AU" b="1" dirty="0">
                <a:latin typeface="+mj-lt"/>
              </a:rPr>
              <a:t> </a:t>
            </a:r>
            <a:r>
              <a:rPr lang="en-AU" dirty="0">
                <a:latin typeface="+mj-lt"/>
              </a:rPr>
              <a:t>de </a:t>
            </a:r>
            <a:r>
              <a:rPr lang="en-AU" dirty="0" err="1">
                <a:latin typeface="+mj-lt"/>
              </a:rPr>
              <a:t>ventas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en</a:t>
            </a:r>
            <a:r>
              <a:rPr lang="en-AU" dirty="0">
                <a:latin typeface="+mj-lt"/>
              </a:rPr>
              <a:t> la </a:t>
            </a:r>
            <a:r>
              <a:rPr lang="en-AU" dirty="0" err="1">
                <a:latin typeface="+mj-lt"/>
              </a:rPr>
              <a:t>categoria</a:t>
            </a:r>
            <a:r>
              <a:rPr lang="en-AU" dirty="0">
                <a:latin typeface="+mj-lt"/>
              </a:rPr>
              <a:t>  </a:t>
            </a:r>
            <a:r>
              <a:rPr lang="en-AU" b="1" dirty="0">
                <a:latin typeface="+mj-lt"/>
              </a:rPr>
              <a:t>Technology</a:t>
            </a:r>
            <a:r>
              <a:rPr lang="en-AU" dirty="0">
                <a:latin typeface="+mj-lt"/>
              </a:rPr>
              <a:t> </a:t>
            </a:r>
            <a:r>
              <a:rPr lang="en-AU" dirty="0" err="1">
                <a:latin typeface="+mj-lt"/>
              </a:rPr>
              <a:t>en</a:t>
            </a:r>
            <a:r>
              <a:rPr lang="en-AU" dirty="0">
                <a:latin typeface="+mj-lt"/>
              </a:rPr>
              <a:t> la Region East.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 err="1">
                <a:latin typeface="+mj-lt"/>
              </a:rPr>
              <a:t>Segmento</a:t>
            </a:r>
            <a:r>
              <a:rPr lang="en-AU" dirty="0">
                <a:latin typeface="+mj-lt"/>
              </a:rPr>
              <a:t> de mayor </a:t>
            </a:r>
            <a:r>
              <a:rPr lang="en-AU" b="1" dirty="0" err="1">
                <a:latin typeface="+mj-lt"/>
              </a:rPr>
              <a:t>resilencia</a:t>
            </a:r>
            <a:r>
              <a:rPr lang="en-AU" b="1" dirty="0">
                <a:latin typeface="+mj-lt"/>
              </a:rPr>
              <a:t> y </a:t>
            </a:r>
            <a:r>
              <a:rPr lang="en-AU" b="1" dirty="0" err="1">
                <a:latin typeface="+mj-lt"/>
              </a:rPr>
              <a:t>retorno</a:t>
            </a:r>
            <a:endParaRPr lang="en-AU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10388733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{9A97F00A-5BCB-4E65-A46E-4D599E27FC0E}TFf0a5ceae-4542-492d-822e-d65a94fb0e1e3b562c5a_win32-009a0557e699</Template>
  <TotalTime>106</TotalTime>
  <Words>394</Words>
  <Application>Microsoft Office PowerPoint</Application>
  <PresentationFormat>Panorámica</PresentationFormat>
  <Paragraphs>51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Bookman Old Style</vt:lpstr>
      <vt:lpstr>Calibri</vt:lpstr>
      <vt:lpstr>Franklin Gothic Book</vt:lpstr>
      <vt:lpstr>Custom</vt:lpstr>
      <vt:lpstr>Proyecto Superstore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Cinthia Anabel Debenedetto</dc:creator>
  <cp:lastModifiedBy>Cinthia Anabel Debenedetto</cp:lastModifiedBy>
  <cp:revision>1</cp:revision>
  <dcterms:created xsi:type="dcterms:W3CDTF">2026-03-01T22:25:37Z</dcterms:created>
  <dcterms:modified xsi:type="dcterms:W3CDTF">2026-03-02T00:11:51Z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